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04320" y="0"/>
            <a:ext cx="457200" cy="6858000"/>
          </a:xfrm>
          <a:prstGeom prst="rect">
            <a:avLst/>
          </a:prstGeom>
          <a:solidFill>
            <a:srgbClr val="B8651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spc="800" kern="0" dirty="0">
                <a:solidFill>
                  <a:srgbClr val="B86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 SECURITY ADVISORY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0" b="1" dirty="0">
                <a:solidFill>
                  <a:srgbClr val="F5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יועץ אבטחת ענן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i="1" dirty="0">
                <a:solidFill>
                  <a:srgbClr val="D88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ערכת כלים מקצה לקצה לייעוץ ארכיטקטורת אבטחת ענן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589520" y="4114800"/>
            <a:ext cx="3840480" cy="640080"/>
          </a:xfrm>
          <a:prstGeom prst="rect">
            <a:avLst/>
          </a:prstGeom>
          <a:solidFill>
            <a:srgbClr val="23211C"/>
          </a:solidFill>
          <a:ln w="12700">
            <a:solidFill>
              <a:srgbClr val="B865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0" y="41148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Advisor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474720" y="4114800"/>
            <a:ext cx="3840480" cy="640080"/>
          </a:xfrm>
          <a:prstGeom prst="rect">
            <a:avLst/>
          </a:prstGeom>
          <a:solidFill>
            <a:srgbClr val="23211C"/>
          </a:solidFill>
          <a:ln w="12700">
            <a:solidFill>
              <a:srgbClr val="B865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41148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Project Planner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585216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A8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הוכן על ידי: רמי כהן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617220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2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מאי 2026 · גרסה 1.1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B86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רקע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המטרה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698480" y="1325880"/>
            <a:ext cx="1005840" cy="45720"/>
          </a:xfrm>
          <a:prstGeom prst="rect">
            <a:avLst/>
          </a:prstGeom>
          <a:solidFill>
            <a:srgbClr val="B8651F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0" y="17373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B86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הבעיה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0" y="2194560"/>
            <a:ext cx="4846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ייעוץ אבטחת ענן ללקוחות הוא תהליך איטי, ידני וחוזר על עצמו. כל מפגש מתחיל מאפס: גיליון ה־Excel, שלושת הענני המסמכים, ותבניות ה־PowerPoint. 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לכל מפגש – אותם שאלות, אותם בדיקות, אותם פערים נפוצים. אבל אין כלי אחד שאוסף את כל הידע הזה ומתאים אותו לארכיטקטורה הספציפית של הלקוח.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B86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הפתרון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שני כלים שעובדים יחד:</a:t>
            </a:r>
            <a:endParaRPr lang="en-US" sz="1400" dirty="0"/>
          </a:p>
          <a:p>
            <a:pPr algn="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</a:t>
            </a:r>
            <a:pPr algn="r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לבניית ארכיטקטורת לקוח קיימת, יצירת דוח ייעוץ מלא ומקצועי, וניתוח סיכונים מבוסס נתונים.</a:t>
            </a:r>
            <a:endParaRPr lang="en-US" sz="1400" dirty="0"/>
          </a:p>
          <a:p>
            <a:pPr algn="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pPr algn="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לליווי לקוח חדש משלב הרעיון ועד מסמך הארכיטקטורה: 4 שלבים מובנים שיוצרים מסמך מקצועי בסוף הדרך.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4937760"/>
            <a:ext cx="2697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507492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86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57200" y="57150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רכיבי ענן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73552" y="4937760"/>
            <a:ext cx="2697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73552" y="507492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86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436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273552" y="57150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Detections מוכנות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9904" y="4937760"/>
            <a:ext cx="2697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9904" y="507492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86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089904" y="57150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תצורות בסיס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906256" y="4937760"/>
            <a:ext cx="2697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06256" y="507492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86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8906256" y="57150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מקומי / Offline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2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17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0" y="64465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8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Advisor + Planner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B86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ארכיטקטורה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שני מוצרים, מאגר נתונים אחד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698480" y="1325880"/>
            <a:ext cx="1005840" cy="45720"/>
          </a:xfrm>
          <a:prstGeom prst="rect">
            <a:avLst/>
          </a:prstGeom>
          <a:solidFill>
            <a:srgbClr val="B8651F"/>
          </a:solidFill>
          <a:ln/>
        </p:spPr>
      </p:sp>
      <p:sp>
        <p:nvSpPr>
          <p:cNvPr id="5" name="Shape 3"/>
          <p:cNvSpPr/>
          <p:nvPr/>
        </p:nvSpPr>
        <p:spPr>
          <a:xfrm>
            <a:off x="6080760" y="1828800"/>
            <a:ext cx="0" cy="4114800"/>
          </a:xfrm>
          <a:prstGeom prst="line">
            <a:avLst/>
          </a:prstGeom>
          <a:noFill/>
          <a:ln w="12700">
            <a:solidFill>
              <a:srgbClr val="D9CFC2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0972800" y="1920240"/>
            <a:ext cx="457200" cy="457200"/>
          </a:xfrm>
          <a:prstGeom prst="rect">
            <a:avLst/>
          </a:prstGeom>
          <a:solidFill>
            <a:srgbClr val="B8651F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18745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0" y="23317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B86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ללקוחות קיימים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0" y="2743200"/>
            <a:ext cx="4480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תכנון ארכיטקטורה על קנבס אינטראקטיבי</a:t>
            </a:r>
            <a:endParaRPr lang="en-US" sz="1300" dirty="0"/>
          </a:p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 רכיבים מ־AWS, Azure, GCP</a:t>
            </a:r>
            <a:endParaRPr lang="en-US" sz="1300" dirty="0"/>
          </a:p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הוספת IP, דומיין, פורטים וגבולות VPC</a:t>
            </a:r>
            <a:endParaRPr lang="en-US" sz="1300" dirty="0"/>
          </a:p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לחקר הנתונים עם סינון</a:t>
            </a:r>
            <a:endParaRPr lang="en-US" sz="1300" dirty="0"/>
          </a:p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SecOps dashboards מובנים</a:t>
            </a:r>
            <a:endParaRPr lang="en-US" sz="1300" dirty="0"/>
          </a:p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דוח PDF מלא ומותאם ללקוח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1920240"/>
            <a:ext cx="457200" cy="457200"/>
          </a:xfrm>
          <a:prstGeom prst="rect">
            <a:avLst/>
          </a:prstGeom>
          <a:solidFill>
            <a:srgbClr val="B8651F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18745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280160" y="23317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B86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ללקוחות חדשים / פרויקטים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80160" y="2743200"/>
            <a:ext cx="4480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Brief — פרטי הפרויקט והענן</a:t>
            </a:r>
            <a:endParaRPr lang="en-US" sz="1300" dirty="0"/>
          </a:p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— בחירת רכיבים לפי שכבות הגנה</a:t>
            </a:r>
            <a:endParaRPr lang="en-US" sz="1300" dirty="0"/>
          </a:p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Stack — כלים, גילויים, dashboards, logs</a:t>
            </a:r>
            <a:endParaRPr lang="en-US" sz="1300" dirty="0"/>
          </a:p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— מסמך ארכיטקטורה מלא בלחיצה</a:t>
            </a:r>
            <a:endParaRPr lang="en-US" sz="1300" dirty="0"/>
          </a:p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תצורות בסיס מסונכרנות עם הענן בהיקף</a:t>
            </a:r>
            <a:endParaRPr lang="en-US" sz="1300" dirty="0"/>
          </a:p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ייצוא: PDF, JSON, מיועד להעברה לצוות הלקוח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2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17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0" y="64465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8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Advisor + Planner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B86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יועץ אבטחה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— קנבס ארכיטקטורה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698480" y="1325880"/>
            <a:ext cx="1005840" cy="45720"/>
          </a:xfrm>
          <a:prstGeom prst="rect">
            <a:avLst/>
          </a:prstGeom>
          <a:solidFill>
            <a:srgbClr val="B8651F"/>
          </a:solidFill>
          <a:ln/>
        </p:spPr>
      </p:sp>
      <p:sp>
        <p:nvSpPr>
          <p:cNvPr id="5" name="Text 3"/>
          <p:cNvSpPr/>
          <p:nvPr/>
        </p:nvSpPr>
        <p:spPr>
          <a:xfrm>
            <a:off x="7955280" y="1737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86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רואים כאן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955280" y="2148840"/>
            <a:ext cx="3749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גרירת רכיבים לקנבס — auto-flow לפי שכבות הגנה</a:t>
            </a:r>
            <a:endParaRPr lang="en-US" sz="1200" dirty="0"/>
          </a:p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רכיב מציג ציון סיכון 0–10</a:t>
            </a:r>
            <a:endParaRPr lang="en-US" sz="1200" dirty="0"/>
          </a:p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קווים מקווקווים — חיבורים מומלצים אוטומטית</a:t>
            </a:r>
            <a:endParaRPr lang="en-US" sz="1200" dirty="0"/>
          </a:p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IP/CIDR, דומיין, פורטים — נוספים בלחיצה על גלגל ההגדרות</a:t>
            </a:r>
            <a:endParaRPr lang="en-US" sz="1200" dirty="0"/>
          </a:p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גבולות VPC/Subnet/Region/AZ — מצוירים סביב הרכיבים</a:t>
            </a:r>
            <a:endParaRPr lang="en-US" sz="1200" dirty="0"/>
          </a:p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תגי סביבה: prod/staging/dev/test בפינת כל רכיב</a:t>
            </a:r>
            <a:endParaRPr lang="en-US" sz="1200" dirty="0"/>
          </a:p>
        </p:txBody>
      </p:sp>
      <p:pic>
        <p:nvPicPr>
          <p:cNvPr id="7" name="Image 0" descr="/home/claude/work/screenshots/advisor_03_canvas_with_meta_and_boundar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737360"/>
            <a:ext cx="7315200" cy="4572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2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17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0" y="64465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8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Advisor + Planner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B86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יועץ אבטחה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— Dashboard לחקר נתונים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698480" y="1325880"/>
            <a:ext cx="1005840" cy="45720"/>
          </a:xfrm>
          <a:prstGeom prst="rect">
            <a:avLst/>
          </a:prstGeom>
          <a:solidFill>
            <a:srgbClr val="B8651F"/>
          </a:solidFill>
          <a:ln/>
        </p:spPr>
      </p:sp>
      <p:sp>
        <p:nvSpPr>
          <p:cNvPr id="5" name="Text 3"/>
          <p:cNvSpPr/>
          <p:nvPr/>
        </p:nvSpPr>
        <p:spPr>
          <a:xfrm>
            <a:off x="7955280" y="1828800"/>
            <a:ext cx="3749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סינון רוחבי — ענן × קטגוריה × שכבת הגנה × רמת סיכון</a:t>
            </a:r>
            <a:endParaRPr lang="en-US" sz="1200" dirty="0"/>
          </a:p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tiles עם המספרים הקריטיים: סיכון ממוצע, גילויים קריטיים, כיסוי MITRE</a:t>
            </a:r>
            <a:endParaRPr lang="en-US" sz="1200" dirty="0"/>
          </a:p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תרשימי בר אינטראקטיביים — לחיצה מסננת</a:t>
            </a:r>
            <a:endParaRPr lang="en-US" sz="1200" dirty="0"/>
          </a:p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מספר מקושר חזרה למאגר הנתונים — אין נתונים מומצאים</a:t>
            </a:r>
            <a:endParaRPr lang="en-US" sz="1200" dirty="0"/>
          </a:p>
        </p:txBody>
      </p:sp>
      <p:pic>
        <p:nvPicPr>
          <p:cNvPr id="6" name="Image 0" descr="/home/claude/work/screenshots/advisor_04_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737360"/>
            <a:ext cx="7315200" cy="4572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2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17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486400" y="64465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8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Advisor + Planner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B86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יועץ אבטחה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— SecOps Dashboards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698480" y="1325880"/>
            <a:ext cx="1005840" cy="45720"/>
          </a:xfrm>
          <a:prstGeom prst="rect">
            <a:avLst/>
          </a:prstGeom>
          <a:solidFill>
            <a:srgbClr val="B8651F"/>
          </a:solidFill>
          <a:ln/>
        </p:spPr>
      </p:sp>
      <p:sp>
        <p:nvSpPr>
          <p:cNvPr id="5" name="Text 3"/>
          <p:cNvSpPr/>
          <p:nvPr/>
        </p:nvSpPr>
        <p:spPr>
          <a:xfrm>
            <a:off x="7955280" y="1828800"/>
            <a:ext cx="3749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dashboards מובנים: Identity, Network, Data, Threat Detection ועוד</a:t>
            </a:r>
            <a:endParaRPr lang="en-US" sz="1200" dirty="0"/>
          </a:p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ויזואליזציות עם KQL/SQL מוכנים להעתקה ל־SIEM</a:t>
            </a:r>
            <a:endParaRPr lang="en-US" sz="1200" dirty="0"/>
          </a:p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מותאם ל־Sentinel, Splunk, Elastic ו־CloudWatch</a:t>
            </a:r>
            <a:endParaRPr lang="en-US" sz="1200" dirty="0"/>
          </a:p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ויזואליזציה כוללת: שאילתה, רציונל, רמת חומרה</a:t>
            </a:r>
            <a:endParaRPr lang="en-US" sz="1200" dirty="0"/>
          </a:p>
        </p:txBody>
      </p:sp>
      <p:pic>
        <p:nvPicPr>
          <p:cNvPr id="6" name="Image 0" descr="/home/claude/work/screenshots/advisor_05_secop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737360"/>
            <a:ext cx="7315200" cy="4572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2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17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486400" y="64465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8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Advisor + Planner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B86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יועץ אבטחה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— דוח לקוח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698480" y="1325880"/>
            <a:ext cx="1005840" cy="45720"/>
          </a:xfrm>
          <a:prstGeom prst="rect">
            <a:avLst/>
          </a:prstGeom>
          <a:solidFill>
            <a:srgbClr val="B8651F"/>
          </a:solidFill>
          <a:ln/>
        </p:spPr>
      </p:sp>
      <p:sp>
        <p:nvSpPr>
          <p:cNvPr id="5" name="Text 3"/>
          <p:cNvSpPr/>
          <p:nvPr/>
        </p:nvSpPr>
        <p:spPr>
          <a:xfrm>
            <a:off x="7955280" y="1828800"/>
            <a:ext cx="3749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מסמך אחד לכל רכיב על הקנבס — Advisory מותאם</a:t>
            </a:r>
            <a:endParaRPr lang="en-US" sz="1200" dirty="0"/>
          </a:p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סעיפים סטנדרטיים: 3 misconfigurations נפוצות, 5 שאלות, 5 בדיקות</a:t>
            </a:r>
            <a:endParaRPr lang="en-US" sz="1200" dirty="0"/>
          </a:p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ציטוט מ־breaches אמיתיים (Capital One, LastPass, Snowflake וכד׳)</a:t>
            </a:r>
            <a:endParaRPr lang="en-US" sz="1200" dirty="0"/>
          </a:p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כלי הגנה מומלצים — Native, 3rd-party, OSS — מסונן לסקופ הלקוח</a:t>
            </a:r>
            <a:endParaRPr lang="en-US" sz="1200" dirty="0"/>
          </a:p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ייצוא PDF בלחיצה אחת — נשלח ישירות ללקוח</a:t>
            </a:r>
            <a:endParaRPr lang="en-US" sz="1200" dirty="0"/>
          </a:p>
        </p:txBody>
      </p:sp>
      <p:pic>
        <p:nvPicPr>
          <p:cNvPr id="6" name="Image 0" descr="/home/claude/work/screenshots/advisor_07_report_component_c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737360"/>
            <a:ext cx="7315200" cy="4572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2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17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486400" y="64465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8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Advisor + Planner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B86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יועץ אבטחה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— תצורות בסיס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698480" y="1325880"/>
            <a:ext cx="1005840" cy="45720"/>
          </a:xfrm>
          <a:prstGeom prst="rect">
            <a:avLst/>
          </a:prstGeom>
          <a:solidFill>
            <a:srgbClr val="B8651F"/>
          </a:solidFill>
          <a:ln/>
        </p:spPr>
      </p:sp>
      <p:sp>
        <p:nvSpPr>
          <p:cNvPr id="5" name="Text 3"/>
          <p:cNvSpPr/>
          <p:nvPr/>
        </p:nvSpPr>
        <p:spPr>
          <a:xfrm>
            <a:off x="7955280" y="1737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86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חידוש בגרסה זו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955280" y="2194560"/>
            <a:ext cx="37490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תצורות בסיס אוניברסליות — לצד ה־Advisory הספציפי</a:t>
            </a:r>
            <a:endParaRPr lang="en-US" sz="1200" dirty="0"/>
          </a:p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MFA, הצפנה, secrets management, segmentation, backup, ועוד</a:t>
            </a:r>
            <a:endParaRPr lang="en-US" sz="1200" dirty="0"/>
          </a:p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בסיס כולל יישום ל־AWS, Azure, GCP — מסונן לפי הענן בסקופ</a:t>
            </a:r>
            <a:endParaRPr lang="en-US" sz="1200" dirty="0"/>
          </a:p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verify: גם ל־auditor וגם להנדסה</a:t>
            </a:r>
            <a:endParaRPr lang="en-US" sz="1200" dirty="0"/>
          </a:p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pitfall: הטעויות הנפוצות שמתועדות במציאות</a:t>
            </a:r>
            <a:endParaRPr lang="en-US" sz="1200" dirty="0"/>
          </a:p>
        </p:txBody>
      </p:sp>
      <p:pic>
        <p:nvPicPr>
          <p:cNvPr id="7" name="Image 0" descr="/home/claude/work/screenshots/advisor_08_baseline_config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737360"/>
            <a:ext cx="7315200" cy="4572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2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17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0" y="64465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8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Advisor + Planner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B86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03b · עומק הנתונים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מאחורי המסך — מאגר הנתונים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698480" y="1325880"/>
            <a:ext cx="1005840" cy="45720"/>
          </a:xfrm>
          <a:prstGeom prst="rect">
            <a:avLst/>
          </a:prstGeom>
          <a:solidFill>
            <a:srgbClr val="B8651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שני המוצרים יושבים על אותו מאגר. כל מספר על המסך — חוזר למקור.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270891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C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29534" y="1920240"/>
            <a:ext cx="36576" cy="1280160"/>
          </a:xfrm>
          <a:prstGeom prst="rect">
            <a:avLst/>
          </a:prstGeom>
          <a:solidFill>
            <a:srgbClr val="B8651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011680"/>
            <a:ext cx="248031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B86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2633472"/>
            <a:ext cx="24803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רכיבי ענן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999232"/>
            <a:ext cx="24803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54 · Azure 57 · GCP 45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03270" y="1920240"/>
            <a:ext cx="270891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C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75604" y="1920240"/>
            <a:ext cx="36576" cy="1280160"/>
          </a:xfrm>
          <a:prstGeom prst="rect">
            <a:avLst/>
          </a:prstGeom>
          <a:solidFill>
            <a:srgbClr val="B8651F"/>
          </a:solidFill>
          <a:ln/>
        </p:spPr>
      </p:sp>
      <p:sp>
        <p:nvSpPr>
          <p:cNvPr id="13" name="Text 11"/>
          <p:cNvSpPr/>
          <p:nvPr/>
        </p:nvSpPr>
        <p:spPr>
          <a:xfrm>
            <a:off x="3394710" y="2011680"/>
            <a:ext cx="248031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B86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394710" y="2633472"/>
            <a:ext cx="24803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טכניקות MITRE ATT&amp;CK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94710" y="2999232"/>
            <a:ext cx="24803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טקטיקות · 899 mappings לרכיבים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49340" y="1920240"/>
            <a:ext cx="270891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C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21674" y="1920240"/>
            <a:ext cx="36576" cy="1280160"/>
          </a:xfrm>
          <a:prstGeom prst="rect">
            <a:avLst/>
          </a:prstGeom>
          <a:solidFill>
            <a:srgbClr val="B8651F"/>
          </a:solidFill>
          <a:ln/>
        </p:spPr>
      </p:sp>
      <p:sp>
        <p:nvSpPr>
          <p:cNvPr id="18" name="Text 16"/>
          <p:cNvSpPr/>
          <p:nvPr/>
        </p:nvSpPr>
        <p:spPr>
          <a:xfrm>
            <a:off x="6240780" y="2011680"/>
            <a:ext cx="248031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B86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436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240780" y="2633472"/>
            <a:ext cx="24803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Detections מוכנות ל־SIEM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40780" y="2999232"/>
            <a:ext cx="24803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173 Critical · 210 High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995410" y="1920240"/>
            <a:ext cx="270891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C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667744" y="1920240"/>
            <a:ext cx="36576" cy="1280160"/>
          </a:xfrm>
          <a:prstGeom prst="rect">
            <a:avLst/>
          </a:prstGeom>
          <a:solidFill>
            <a:srgbClr val="B8651F"/>
          </a:solidFill>
          <a:ln/>
        </p:spPr>
      </p:sp>
      <p:sp>
        <p:nvSpPr>
          <p:cNvPr id="23" name="Text 21"/>
          <p:cNvSpPr/>
          <p:nvPr/>
        </p:nvSpPr>
        <p:spPr>
          <a:xfrm>
            <a:off x="9086850" y="2011680"/>
            <a:ext cx="248031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B86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618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9086850" y="2633472"/>
            <a:ext cx="24803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כלי הגנה במאגר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086850" y="2999232"/>
            <a:ext cx="24803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 vendors · 2,085 mappings לרכיבים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337560"/>
            <a:ext cx="270891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C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29534" y="3337560"/>
            <a:ext cx="36576" cy="1280160"/>
          </a:xfrm>
          <a:prstGeom prst="rect">
            <a:avLst/>
          </a:prstGeom>
          <a:solidFill>
            <a:srgbClr val="B8651F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3429000"/>
            <a:ext cx="248031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B86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1,978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548640" y="4050792"/>
            <a:ext cx="24803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mappings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" y="4416552"/>
            <a:ext cx="24803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frameworks: SOC 2, ISO, PCI…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03270" y="3337560"/>
            <a:ext cx="270891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C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75604" y="3337560"/>
            <a:ext cx="36576" cy="1280160"/>
          </a:xfrm>
          <a:prstGeom prst="rect">
            <a:avLst/>
          </a:prstGeom>
          <a:solidFill>
            <a:srgbClr val="B8651F"/>
          </a:solidFill>
          <a:ln/>
        </p:spPr>
      </p:sp>
      <p:sp>
        <p:nvSpPr>
          <p:cNvPr id="33" name="Text 31"/>
          <p:cNvSpPr/>
          <p:nvPr/>
        </p:nvSpPr>
        <p:spPr>
          <a:xfrm>
            <a:off x="3394710" y="3429000"/>
            <a:ext cx="248031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B86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3394710" y="4050792"/>
            <a:ext cx="24803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תרחישי תקיפה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394710" y="4416552"/>
            <a:ext cx="24803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kill-chain מלא · 144 שלבים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49340" y="3337560"/>
            <a:ext cx="270891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C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821674" y="3337560"/>
            <a:ext cx="36576" cy="1280160"/>
          </a:xfrm>
          <a:prstGeom prst="rect">
            <a:avLst/>
          </a:prstGeom>
          <a:solidFill>
            <a:srgbClr val="B8651F"/>
          </a:solidFill>
          <a:ln/>
        </p:spPr>
      </p:sp>
      <p:sp>
        <p:nvSpPr>
          <p:cNvPr id="38" name="Text 36"/>
          <p:cNvSpPr/>
          <p:nvPr/>
        </p:nvSpPr>
        <p:spPr>
          <a:xfrm>
            <a:off x="6240780" y="3429000"/>
            <a:ext cx="248031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B86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3200" dirty="0"/>
          </a:p>
        </p:txBody>
      </p:sp>
      <p:sp>
        <p:nvSpPr>
          <p:cNvPr id="39" name="Text 37"/>
          <p:cNvSpPr/>
          <p:nvPr/>
        </p:nvSpPr>
        <p:spPr>
          <a:xfrm>
            <a:off x="6240780" y="4050792"/>
            <a:ext cx="24803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Playbooks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240780" y="4416552"/>
            <a:ext cx="24803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Containment → Recovery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995410" y="3337560"/>
            <a:ext cx="270891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C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667744" y="3337560"/>
            <a:ext cx="36576" cy="1280160"/>
          </a:xfrm>
          <a:prstGeom prst="rect">
            <a:avLst/>
          </a:prstGeom>
          <a:solidFill>
            <a:srgbClr val="B8651F"/>
          </a:solidFill>
          <a:ln/>
        </p:spPr>
      </p:sp>
      <p:sp>
        <p:nvSpPr>
          <p:cNvPr id="43" name="Text 41"/>
          <p:cNvSpPr/>
          <p:nvPr/>
        </p:nvSpPr>
        <p:spPr>
          <a:xfrm>
            <a:off x="9086850" y="3429000"/>
            <a:ext cx="248031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B86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3200" dirty="0"/>
          </a:p>
        </p:txBody>
      </p:sp>
      <p:sp>
        <p:nvSpPr>
          <p:cNvPr id="44" name="Text 42"/>
          <p:cNvSpPr/>
          <p:nvPr/>
        </p:nvSpPr>
        <p:spPr>
          <a:xfrm>
            <a:off x="9086850" y="4050792"/>
            <a:ext cx="24803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Actors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9086850" y="4416552"/>
            <a:ext cx="24803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מ־Scattered Spider עד APT29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57200" y="4754880"/>
            <a:ext cx="270891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C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129534" y="4754880"/>
            <a:ext cx="36576" cy="1280160"/>
          </a:xfrm>
          <a:prstGeom prst="rect">
            <a:avLst/>
          </a:prstGeom>
          <a:solidFill>
            <a:srgbClr val="B8651F"/>
          </a:solidFill>
          <a:ln/>
        </p:spPr>
      </p:sp>
      <p:sp>
        <p:nvSpPr>
          <p:cNvPr id="48" name="Text 46"/>
          <p:cNvSpPr/>
          <p:nvPr/>
        </p:nvSpPr>
        <p:spPr>
          <a:xfrm>
            <a:off x="548640" y="4846320"/>
            <a:ext cx="248031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B86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200" dirty="0"/>
          </a:p>
        </p:txBody>
      </p:sp>
      <p:sp>
        <p:nvSpPr>
          <p:cNvPr id="49" name="Text 47"/>
          <p:cNvSpPr/>
          <p:nvPr/>
        </p:nvSpPr>
        <p:spPr>
          <a:xfrm>
            <a:off x="548640" y="5468112"/>
            <a:ext cx="24803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Breaches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48640" y="5833872"/>
            <a:ext cx="24803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One · LastPass · Snowflake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303270" y="4754880"/>
            <a:ext cx="270891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C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975604" y="4754880"/>
            <a:ext cx="36576" cy="1280160"/>
          </a:xfrm>
          <a:prstGeom prst="rect">
            <a:avLst/>
          </a:prstGeom>
          <a:solidFill>
            <a:srgbClr val="B8651F"/>
          </a:solidFill>
          <a:ln/>
        </p:spPr>
      </p:sp>
      <p:sp>
        <p:nvSpPr>
          <p:cNvPr id="53" name="Text 51"/>
          <p:cNvSpPr/>
          <p:nvPr/>
        </p:nvSpPr>
        <p:spPr>
          <a:xfrm>
            <a:off x="3394710" y="4846320"/>
            <a:ext cx="248031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B86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730</a:t>
            </a:r>
            <a:endParaRPr lang="en-US" sz="3200" dirty="0"/>
          </a:p>
        </p:txBody>
      </p:sp>
      <p:sp>
        <p:nvSpPr>
          <p:cNvPr id="54" name="Text 52"/>
          <p:cNvSpPr/>
          <p:nvPr/>
        </p:nvSpPr>
        <p:spPr>
          <a:xfrm>
            <a:off x="3394710" y="5468112"/>
            <a:ext cx="24803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Events לקטלוג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3394710" y="5833872"/>
            <a:ext cx="24803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log sources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149340" y="4754880"/>
            <a:ext cx="270891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C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821674" y="4754880"/>
            <a:ext cx="36576" cy="1280160"/>
          </a:xfrm>
          <a:prstGeom prst="rect">
            <a:avLst/>
          </a:prstGeom>
          <a:solidFill>
            <a:srgbClr val="B8651F"/>
          </a:solidFill>
          <a:ln/>
        </p:spPr>
      </p:sp>
      <p:sp>
        <p:nvSpPr>
          <p:cNvPr id="58" name="Text 56"/>
          <p:cNvSpPr/>
          <p:nvPr/>
        </p:nvSpPr>
        <p:spPr>
          <a:xfrm>
            <a:off x="6240780" y="4846320"/>
            <a:ext cx="248031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B86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3200" dirty="0"/>
          </a:p>
        </p:txBody>
      </p:sp>
      <p:sp>
        <p:nvSpPr>
          <p:cNvPr id="59" name="Text 57"/>
          <p:cNvSpPr/>
          <p:nvPr/>
        </p:nvSpPr>
        <p:spPr>
          <a:xfrm>
            <a:off x="6240780" y="5468112"/>
            <a:ext cx="24803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SecOps Dashboards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6240780" y="5833872"/>
            <a:ext cx="24803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ויזואליזציות עם KQL/SQL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8995410" y="4754880"/>
            <a:ext cx="270891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C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1667744" y="4754880"/>
            <a:ext cx="36576" cy="1280160"/>
          </a:xfrm>
          <a:prstGeom prst="rect">
            <a:avLst/>
          </a:prstGeom>
          <a:solidFill>
            <a:srgbClr val="B8651F"/>
          </a:solidFill>
          <a:ln/>
        </p:spPr>
      </p:sp>
      <p:sp>
        <p:nvSpPr>
          <p:cNvPr id="63" name="Text 61"/>
          <p:cNvSpPr/>
          <p:nvPr/>
        </p:nvSpPr>
        <p:spPr>
          <a:xfrm>
            <a:off x="9086850" y="4846320"/>
            <a:ext cx="248031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B86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3200" dirty="0"/>
          </a:p>
        </p:txBody>
      </p:sp>
      <p:sp>
        <p:nvSpPr>
          <p:cNvPr id="64" name="Text 62"/>
          <p:cNvSpPr/>
          <p:nvPr/>
        </p:nvSpPr>
        <p:spPr>
          <a:xfrm>
            <a:off x="9086850" y="5468112"/>
            <a:ext cx="24803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Configurations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9086850" y="5833872"/>
            <a:ext cx="24803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· Data · Network · Logging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3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8,294 שורות · 24 טבלאות · קובץ JSON אחד · כל הנתונים זמינים גם ב־Excel ל־PowerBI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45720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2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17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5486400" y="64465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8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Advisor + Planner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B86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מתכנן פרויקטים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— 4 שלבים מאידאה למסמך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698480" y="1325880"/>
            <a:ext cx="1005840" cy="45720"/>
          </a:xfrm>
          <a:prstGeom prst="rect">
            <a:avLst/>
          </a:prstGeom>
          <a:solidFill>
            <a:srgbClr val="B8651F"/>
          </a:solidFill>
          <a:ln/>
        </p:spPr>
      </p:sp>
      <p:sp>
        <p:nvSpPr>
          <p:cNvPr id="5" name="Shape 3"/>
          <p:cNvSpPr/>
          <p:nvPr/>
        </p:nvSpPr>
        <p:spPr>
          <a:xfrm>
            <a:off x="507492" y="201168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C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7492" y="2011680"/>
            <a:ext cx="2697480" cy="54864"/>
          </a:xfrm>
          <a:prstGeom prst="rect">
            <a:avLst/>
          </a:prstGeom>
          <a:solidFill>
            <a:srgbClr val="B8651F"/>
          </a:solidFill>
          <a:ln/>
        </p:spPr>
      </p:sp>
      <p:sp>
        <p:nvSpPr>
          <p:cNvPr id="7" name="Shape 5"/>
          <p:cNvSpPr/>
          <p:nvPr/>
        </p:nvSpPr>
        <p:spPr>
          <a:xfrm>
            <a:off x="1490472" y="2377440"/>
            <a:ext cx="731520" cy="731520"/>
          </a:xfrm>
          <a:prstGeom prst="ellipse">
            <a:avLst/>
          </a:prstGeom>
          <a:solidFill>
            <a:srgbClr val="B8651F"/>
          </a:solidFill>
          <a:ln/>
        </p:spPr>
      </p:sp>
      <p:sp>
        <p:nvSpPr>
          <p:cNvPr id="8" name="Text 6"/>
          <p:cNvSpPr/>
          <p:nvPr/>
        </p:nvSpPr>
        <p:spPr>
          <a:xfrm>
            <a:off x="1490472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44652" y="32918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Brief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4652" y="37490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86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פרטי הפרויקט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4652" y="429768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שם, סוג, scale, ענן, frameworks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14116" y="3840480"/>
            <a:ext cx="100584" cy="0"/>
          </a:xfrm>
          <a:prstGeom prst="line">
            <a:avLst/>
          </a:prstGeom>
          <a:noFill/>
          <a:ln w="25400">
            <a:solidFill>
              <a:srgbClr val="B8651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323844" y="201168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C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23844" y="2011680"/>
            <a:ext cx="2697480" cy="54864"/>
          </a:xfrm>
          <a:prstGeom prst="rect">
            <a:avLst/>
          </a:prstGeom>
          <a:solidFill>
            <a:srgbClr val="B8651F"/>
          </a:solidFill>
          <a:ln/>
        </p:spPr>
      </p:sp>
      <p:sp>
        <p:nvSpPr>
          <p:cNvPr id="15" name="Shape 13"/>
          <p:cNvSpPr/>
          <p:nvPr/>
        </p:nvSpPr>
        <p:spPr>
          <a:xfrm>
            <a:off x="4306824" y="2377440"/>
            <a:ext cx="731520" cy="731520"/>
          </a:xfrm>
          <a:prstGeom prst="ellipse">
            <a:avLst/>
          </a:prstGeom>
          <a:solidFill>
            <a:srgbClr val="B8651F"/>
          </a:solidFill>
          <a:ln/>
        </p:spPr>
      </p:sp>
      <p:sp>
        <p:nvSpPr>
          <p:cNvPr id="16" name="Text 14"/>
          <p:cNvSpPr/>
          <p:nvPr/>
        </p:nvSpPr>
        <p:spPr>
          <a:xfrm>
            <a:off x="4306824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3461004" y="32918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461004" y="37490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86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בחירת רכיבים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61004" y="429768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אשף 6 שכבות הגנה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0468" y="3840480"/>
            <a:ext cx="100584" cy="0"/>
          </a:xfrm>
          <a:prstGeom prst="line">
            <a:avLst/>
          </a:prstGeom>
          <a:noFill/>
          <a:ln w="25400">
            <a:solidFill>
              <a:srgbClr val="B8651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140196" y="201168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C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40196" y="2011680"/>
            <a:ext cx="2697480" cy="54864"/>
          </a:xfrm>
          <a:prstGeom prst="rect">
            <a:avLst/>
          </a:prstGeom>
          <a:solidFill>
            <a:srgbClr val="B8651F"/>
          </a:solidFill>
          <a:ln/>
        </p:spPr>
      </p:sp>
      <p:sp>
        <p:nvSpPr>
          <p:cNvPr id="23" name="Shape 21"/>
          <p:cNvSpPr/>
          <p:nvPr/>
        </p:nvSpPr>
        <p:spPr>
          <a:xfrm>
            <a:off x="7123176" y="2377440"/>
            <a:ext cx="731520" cy="731520"/>
          </a:xfrm>
          <a:prstGeom prst="ellipse">
            <a:avLst/>
          </a:prstGeom>
          <a:solidFill>
            <a:srgbClr val="B8651F"/>
          </a:solidFill>
          <a:ln/>
        </p:spPr>
      </p:sp>
      <p:sp>
        <p:nvSpPr>
          <p:cNvPr id="24" name="Text 22"/>
          <p:cNvSpPr/>
          <p:nvPr/>
        </p:nvSpPr>
        <p:spPr>
          <a:xfrm>
            <a:off x="7123176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6277356" y="32918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Stack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277356" y="37490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86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כלי אבטחה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77356" y="429768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כלים, detections, dashboards, logs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846820" y="3840480"/>
            <a:ext cx="100584" cy="0"/>
          </a:xfrm>
          <a:prstGeom prst="line">
            <a:avLst/>
          </a:prstGeom>
          <a:noFill/>
          <a:ln w="25400">
            <a:solidFill>
              <a:srgbClr val="B8651F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956548" y="201168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C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956548" y="2011680"/>
            <a:ext cx="2697480" cy="54864"/>
          </a:xfrm>
          <a:prstGeom prst="rect">
            <a:avLst/>
          </a:prstGeom>
          <a:solidFill>
            <a:srgbClr val="B8651F"/>
          </a:solidFill>
          <a:ln/>
        </p:spPr>
      </p:sp>
      <p:sp>
        <p:nvSpPr>
          <p:cNvPr id="31" name="Shape 29"/>
          <p:cNvSpPr/>
          <p:nvPr/>
        </p:nvSpPr>
        <p:spPr>
          <a:xfrm>
            <a:off x="9939528" y="2377440"/>
            <a:ext cx="731520" cy="731520"/>
          </a:xfrm>
          <a:prstGeom prst="ellipse">
            <a:avLst/>
          </a:prstGeom>
          <a:solidFill>
            <a:srgbClr val="B8651F"/>
          </a:solidFill>
          <a:ln/>
        </p:spPr>
      </p:sp>
      <p:sp>
        <p:nvSpPr>
          <p:cNvPr id="32" name="Text 30"/>
          <p:cNvSpPr/>
          <p:nvPr/>
        </p:nvSpPr>
        <p:spPr>
          <a:xfrm>
            <a:off x="9939528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9093708" y="32918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Doc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093708" y="37490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86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מסמך מלא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093708" y="429768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סעיפים, מוכן לייצוא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שלב נשמר ב־localStorage — ניתן להמשיך מאוחר יותר. הכל offline.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2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86400" y="64465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8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Advisor + Planner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B86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מתכנן פרויקטים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— שלב 1: Project Brief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698480" y="1325880"/>
            <a:ext cx="1005840" cy="45720"/>
          </a:xfrm>
          <a:prstGeom prst="rect">
            <a:avLst/>
          </a:prstGeom>
          <a:solidFill>
            <a:srgbClr val="B8651F"/>
          </a:solidFill>
          <a:ln/>
        </p:spPr>
      </p:sp>
      <p:sp>
        <p:nvSpPr>
          <p:cNvPr id="5" name="Text 3"/>
          <p:cNvSpPr/>
          <p:nvPr/>
        </p:nvSpPr>
        <p:spPr>
          <a:xfrm>
            <a:off x="7955280" y="1828800"/>
            <a:ext cx="3749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פרטי הפרויקט: שם, חברה, סוג, scale</a:t>
            </a:r>
            <a:endParaRPr lang="en-US" sz="1200" dirty="0"/>
          </a:p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תיאור חופשי — עוזר לכייל את ההמלצות בשלבים הבאים</a:t>
            </a:r>
            <a:endParaRPr lang="en-US" sz="1200" dirty="0"/>
          </a:p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בחירת ענני מטרה: AWS, Azure, GCP</a:t>
            </a:r>
            <a:endParaRPr lang="en-US" sz="1200" dirty="0"/>
          </a:p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רגולטוריים: SOC 2, ISO 27001, HIPAA, PCI, GDPR</a:t>
            </a:r>
            <a:endParaRPr lang="en-US" sz="1200" dirty="0"/>
          </a:p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הנתונים שמורים מקומית — אין שליחה החוצה</a:t>
            </a:r>
            <a:endParaRPr lang="en-US" sz="1200" dirty="0"/>
          </a:p>
        </p:txBody>
      </p:sp>
      <p:pic>
        <p:nvPicPr>
          <p:cNvPr id="6" name="Image 0" descr="/home/claude/work/screenshots/planner_01_phase1_brief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737360"/>
            <a:ext cx="7315200" cy="4572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2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17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486400" y="64465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8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Advisor + Planner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B86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מתכנן פרויקטים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— שלב 2: בחירת רכיבים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698480" y="1325880"/>
            <a:ext cx="1005840" cy="45720"/>
          </a:xfrm>
          <a:prstGeom prst="rect">
            <a:avLst/>
          </a:prstGeom>
          <a:solidFill>
            <a:srgbClr val="B8651F"/>
          </a:solidFill>
          <a:ln/>
        </p:spPr>
      </p:sp>
      <p:sp>
        <p:nvSpPr>
          <p:cNvPr id="5" name="Text 3"/>
          <p:cNvSpPr/>
          <p:nvPr/>
        </p:nvSpPr>
        <p:spPr>
          <a:xfrm>
            <a:off x="7955280" y="1828800"/>
            <a:ext cx="3749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אשף של 6 צעדים לפי שכבות הגנה (Defense in Depth)</a:t>
            </a:r>
            <a:endParaRPr lang="en-US" sz="1200" dirty="0"/>
          </a:p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→ Network → Compute → Application → Data → Detection</a:t>
            </a:r>
            <a:endParaRPr lang="en-US" sz="1200" dirty="0"/>
          </a:p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סינון אוטומטי לענן שנבחר ב־Brief</a:t>
            </a:r>
            <a:endParaRPr lang="en-US" sz="1200" dirty="0"/>
          </a:p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רכיב מציג: שם, ספק, קטגוריה, ציון סיכון</a:t>
            </a:r>
            <a:endParaRPr lang="en-US" sz="1200" dirty="0"/>
          </a:p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ניתן לדלג על שכבה — אין חובה לבחור בכל אחת</a:t>
            </a:r>
            <a:endParaRPr lang="en-US" sz="1200" dirty="0"/>
          </a:p>
        </p:txBody>
      </p:sp>
      <p:pic>
        <p:nvPicPr>
          <p:cNvPr id="6" name="Image 0" descr="/home/claude/work/screenshots/planner_02b_phase2_wiz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737360"/>
            <a:ext cx="7315200" cy="4572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2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17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486400" y="64465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8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Advisor + Planner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B86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מתכנן פרויקטים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— שלב 3: Security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698480" y="1325880"/>
            <a:ext cx="1005840" cy="45720"/>
          </a:xfrm>
          <a:prstGeom prst="rect">
            <a:avLst/>
          </a:prstGeom>
          <a:solidFill>
            <a:srgbClr val="B8651F"/>
          </a:solidFill>
          <a:ln/>
        </p:spPr>
      </p:sp>
      <p:sp>
        <p:nvSpPr>
          <p:cNvPr id="5" name="Text 3"/>
          <p:cNvSpPr/>
          <p:nvPr/>
        </p:nvSpPr>
        <p:spPr>
          <a:xfrm>
            <a:off x="7955280" y="1828800"/>
            <a:ext cx="3749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ארבעה תתי־שלבים: Tools, Detections, Dashboards, Logs</a:t>
            </a:r>
            <a:endParaRPr lang="en-US" sz="1200" dirty="0"/>
          </a:p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כלי הגנה — מקובצים לפי Native / 3rd-party / OSS</a:t>
            </a:r>
            <a:endParaRPr lang="en-US" sz="1200" dirty="0"/>
          </a:p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Detections — מסומנים כ־have / will / not now</a:t>
            </a:r>
            <a:endParaRPr lang="en-US" sz="1200" dirty="0"/>
          </a:p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SecOps dashboards — דירוג רלוונטיות אוטומטי לסקופ</a:t>
            </a:r>
            <a:endParaRPr lang="en-US" sz="1200" dirty="0"/>
          </a:p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strategy — Must / Should / Nice tiers</a:t>
            </a:r>
            <a:endParaRPr lang="en-US" sz="1200" dirty="0"/>
          </a:p>
        </p:txBody>
      </p:sp>
      <p:pic>
        <p:nvPicPr>
          <p:cNvPr id="6" name="Image 0" descr="/home/claude/work/screenshots/planner_03b_phase3_tool_pick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737360"/>
            <a:ext cx="7315200" cy="4572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2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17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486400" y="64465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8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Advisor + Planner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B86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מתכנן פרויקטים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— שלב 4: מסמך ארכיטקטורה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698480" y="1325880"/>
            <a:ext cx="1005840" cy="45720"/>
          </a:xfrm>
          <a:prstGeom prst="rect">
            <a:avLst/>
          </a:prstGeom>
          <a:solidFill>
            <a:srgbClr val="B8651F"/>
          </a:solidFill>
          <a:ln/>
        </p:spPr>
      </p:sp>
      <p:sp>
        <p:nvSpPr>
          <p:cNvPr id="5" name="Text 3"/>
          <p:cNvSpPr/>
          <p:nvPr/>
        </p:nvSpPr>
        <p:spPr>
          <a:xfrm>
            <a:off x="7955280" y="1828800"/>
            <a:ext cx="3749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סעיפים מובנים — Cover, ToC, Exec Summary, Inventory וכל השאר</a:t>
            </a:r>
            <a:endParaRPr lang="en-US" sz="1200" dirty="0"/>
          </a:p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תצורות בסיס — סעיף 11, חדש בגרסה זו</a:t>
            </a:r>
            <a:endParaRPr lang="en-US" sz="1200" dirty="0"/>
          </a:p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מותאם אוטומטית לבחירות מהשלבים 1–3</a:t>
            </a:r>
            <a:endParaRPr lang="en-US" sz="1200" dirty="0"/>
          </a:p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ייצוא: Print to PDF, Export JSON</a:t>
            </a:r>
            <a:endParaRPr lang="en-US" sz="1200" dirty="0"/>
          </a:p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מוכן להעברה ללקוח — ללא עריכה ידנית נוספת</a:t>
            </a:r>
            <a:endParaRPr lang="en-US" sz="1200" dirty="0"/>
          </a:p>
        </p:txBody>
      </p:sp>
      <p:pic>
        <p:nvPicPr>
          <p:cNvPr id="6" name="Image 0" descr="/home/claude/work/screenshots/planner_07_phase4_baselin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737360"/>
            <a:ext cx="7315200" cy="4572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2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17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486400" y="64465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8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Advisor + Planner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B86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ארכיטקטורה טכנית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מאחורי הקלעים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698480" y="1325880"/>
            <a:ext cx="1005840" cy="45720"/>
          </a:xfrm>
          <a:prstGeom prst="rect">
            <a:avLst/>
          </a:prstGeom>
          <a:solidFill>
            <a:srgbClr val="B8651F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1828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B86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מאגר הנתונים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789920" y="2331720"/>
            <a:ext cx="914400" cy="0"/>
          </a:xfrm>
          <a:prstGeom prst="line">
            <a:avLst/>
          </a:prstGeom>
          <a:noFill/>
          <a:ln w="12700">
            <a:solidFill>
              <a:srgbClr val="B865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0" y="2560320"/>
            <a:ext cx="3657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 רכיבים · 24 טבלאות · 8,294 שורות</a:t>
            </a:r>
            <a:endParaRPr lang="en-US" sz="1200" dirty="0"/>
          </a:p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 טכניקות MITRE · 14 טקטיקות</a:t>
            </a:r>
            <a:endParaRPr lang="en-US" sz="1200" dirty="0"/>
          </a:p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436 detections · 173 Critical · 210 High</a:t>
            </a:r>
            <a:endParaRPr lang="en-US" sz="1200" dirty="0"/>
          </a:p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618 כלי הגנה · 74 vendors · Native/3rd-party/OSS</a:t>
            </a:r>
            <a:endParaRPr lang="en-US" sz="1200" dirty="0"/>
          </a:p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1,978 mappings ל־13 frameworks</a:t>
            </a:r>
            <a:endParaRPr lang="en-US" sz="1200" dirty="0"/>
          </a:p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attack scenarios · 20 IR playbooks</a:t>
            </a:r>
            <a:endParaRPr lang="en-US" sz="1200" dirty="0"/>
          </a:p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threat actors · 12 real-world breaches</a:t>
            </a:r>
            <a:endParaRPr lang="en-US" sz="1200" dirty="0"/>
          </a:p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baseline configurations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06240" y="1828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B86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הטכנולוגיה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949440" y="2331720"/>
            <a:ext cx="914400" cy="0"/>
          </a:xfrm>
          <a:prstGeom prst="line">
            <a:avLst/>
          </a:prstGeom>
          <a:noFill/>
          <a:ln w="12700">
            <a:solidFill>
              <a:srgbClr val="B865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2560320"/>
            <a:ext cx="3657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HTML/CSS/JS — אין framework</a:t>
            </a:r>
            <a:endParaRPr lang="en-US" sz="1200" dirty="0"/>
          </a:p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פונטים מוטמעים (Inter, Fraunces)</a:t>
            </a:r>
            <a:endParaRPr lang="en-US" sz="1200" dirty="0"/>
          </a:p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SheetJS לייצוא Excel — מוטמע</a:t>
            </a:r>
            <a:endParaRPr lang="en-US" sz="1200" dirty="0"/>
          </a:p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Storage API לשמירה</a:t>
            </a:r>
            <a:endParaRPr lang="en-US" sz="1200" dirty="0"/>
          </a:p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CSS לייצוא PDF נקי</a:t>
            </a:r>
            <a:endParaRPr lang="en-US" sz="1200" dirty="0"/>
          </a:p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אפס תלויות חיצוניות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828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B86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הפצה והתקנה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108960" y="2331720"/>
            <a:ext cx="914400" cy="0"/>
          </a:xfrm>
          <a:prstGeom prst="line">
            <a:avLst/>
          </a:prstGeom>
          <a:noFill/>
          <a:ln w="12700">
            <a:solidFill>
              <a:srgbClr val="B865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560320"/>
            <a:ext cx="3657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קובץ HTML יחיד — 4.7MB</a:t>
            </a:r>
            <a:endParaRPr lang="en-US" sz="1200" dirty="0"/>
          </a:p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פותח בכל דפדפן מודרני</a:t>
            </a:r>
            <a:endParaRPr lang="en-US" sz="1200" dirty="0"/>
          </a:p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עובד גם ללא חיבור לאינטרנט</a:t>
            </a:r>
            <a:endParaRPr lang="en-US" sz="1200" dirty="0"/>
          </a:p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עם מדריכים — 1.9MB</a:t>
            </a:r>
            <a:endParaRPr lang="en-US" sz="1200" dirty="0"/>
          </a:p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אפשר לשלוח ב־email</a:t>
            </a:r>
            <a:endParaRPr lang="en-US" sz="1200" dirty="0"/>
          </a:p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אין שרת, אין SaaS, אין licensing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2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17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0" y="64465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8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Advisor + Planner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B86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המשך הדרך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פיתוח עתידי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698480" y="1325880"/>
            <a:ext cx="1005840" cy="45720"/>
          </a:xfrm>
          <a:prstGeom prst="rect">
            <a:avLst/>
          </a:prstGeom>
          <a:solidFill>
            <a:srgbClr val="B8651F"/>
          </a:solidFill>
          <a:ln/>
        </p:spPr>
      </p:sp>
      <p:sp>
        <p:nvSpPr>
          <p:cNvPr id="5" name="Text 3"/>
          <p:cNvSpPr/>
          <p:nvPr/>
        </p:nvSpPr>
        <p:spPr>
          <a:xfrm>
            <a:off x="6309360" y="18288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B86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טווח קצר — חודשים הקרובים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332720" y="2331720"/>
            <a:ext cx="1371600" cy="0"/>
          </a:xfrm>
          <a:prstGeom prst="line">
            <a:avLst/>
          </a:prstGeom>
          <a:noFill/>
          <a:ln w="12700">
            <a:solidFill>
              <a:srgbClr val="B865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09360" y="2560320"/>
            <a:ext cx="5394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picker אינטראקטיבי בשלב 3 ב־Planner — סימון have/will</a:t>
            </a:r>
            <a:endParaRPr lang="en-US" sz="1200" dirty="0"/>
          </a:p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auto-resize — גבולות שמתרחבים אוטומטית סביב רכיבים שגוררים פנימה</a:t>
            </a:r>
            <a:endParaRPr lang="en-US" sz="1200" dirty="0"/>
          </a:p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ייצוא Word (docx) בנוסף ל־PDF — לעריכה ידנית של דוחות</a:t>
            </a:r>
            <a:endParaRPr lang="en-US" sz="1200" dirty="0"/>
          </a:p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סנכרון IP/CIDR מ־Terraform state אם הלקוח עובד עם IaC</a:t>
            </a:r>
            <a:endParaRPr lang="en-US" sz="1200" dirty="0"/>
          </a:p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 coverage — השלמת אייקונים ל־12 רכיבי GCP החדשים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B86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טווח ארוך — תכנון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480560" y="2331720"/>
            <a:ext cx="1371600" cy="0"/>
          </a:xfrm>
          <a:prstGeom prst="line">
            <a:avLst/>
          </a:prstGeom>
          <a:noFill/>
          <a:ln w="12700">
            <a:solidFill>
              <a:srgbClr val="B865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60320"/>
            <a:ext cx="5394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מצב Multi-tenant — שמירה של engagements לכל לקוח</a:t>
            </a:r>
            <a:endParaRPr lang="en-US" sz="1200" dirty="0"/>
          </a:p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מלא בסגנון draw.io עם שמירה ל־.drawio</a:t>
            </a:r>
            <a:endParaRPr lang="en-US" sz="1200" dirty="0"/>
          </a:p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אינטגרציית Claude / OpenAI לסיכום אוטומטי וניתוח טקסטים בדוח</a:t>
            </a:r>
            <a:endParaRPr lang="en-US" sz="1200" dirty="0"/>
          </a:p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ייבוא מ־cloud APIs — סריקת חשבון אמיתי במקום ציור ידני</a:t>
            </a:r>
            <a:endParaRPr lang="en-US" sz="1200" dirty="0"/>
          </a:p>
          <a:p>
            <a:pPr algn="r"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מהדורה מסחרית — SaaS, multi-user, ניהול ידע ארגוני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2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17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0" y="64465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8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Advisor + Planner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04320" y="0"/>
            <a:ext cx="457200" cy="6858000"/>
          </a:xfrm>
          <a:prstGeom prst="rect">
            <a:avLst/>
          </a:prstGeom>
          <a:solidFill>
            <a:srgbClr val="B8651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i="1" dirty="0">
                <a:solidFill>
                  <a:srgbClr val="8A8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מכלי ייעוץ ידני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6517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800" b="1" dirty="0">
                <a:solidFill>
                  <a:srgbClr val="F5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למערכת מבוססת נתונים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i="1" dirty="0">
                <a:solidFill>
                  <a:srgbClr val="B86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שעובדת איתך, לא במקומך.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5029200"/>
            <a:ext cx="10607040" cy="0"/>
          </a:xfrm>
          <a:prstGeom prst="line">
            <a:avLst/>
          </a:prstGeom>
          <a:noFill/>
          <a:ln w="12700">
            <a:solidFill>
              <a:srgbClr val="B8651F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40080" y="530352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5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רמי כהן</a:t>
            </a:r>
            <a:endParaRPr lang="en-US" sz="1800" dirty="0"/>
          </a:p>
          <a:p>
            <a:pPr algn="r" indent="0" marL="0">
              <a:buNone/>
            </a:pPr>
            <a:r>
              <a:rPr lang="en-US" sz="1300" i="1" dirty="0">
                <a:solidFill>
                  <a:srgbClr val="8A8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Architect · Cloud Security Advisory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6400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spc="1200" kern="0" dirty="0">
                <a:solidFill>
                  <a:srgbClr val="B86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תודה רבה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Security Advisor + Planner</dc:title>
  <dc:subject>PptxGenJS Presentation</dc:subject>
  <dc:creator>Rami Cohen</dc:creator>
  <cp:lastModifiedBy>Rami Cohen</cp:lastModifiedBy>
  <cp:revision>1</cp:revision>
  <dcterms:created xsi:type="dcterms:W3CDTF">2026-05-03T14:15:38Z</dcterms:created>
  <dcterms:modified xsi:type="dcterms:W3CDTF">2026-05-03T14:15:38Z</dcterms:modified>
</cp:coreProperties>
</file>